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6309360"/>
                </a:moveTo>
                <a:lnTo>
                  <a:pt x="2011680" y="5120640"/>
                </a:lnTo>
                <a:lnTo>
                  <a:pt x="3657600" y="5943600"/>
                </a:lnTo>
                <a:lnTo>
                  <a:pt x="5577840" y="4754880"/>
                </a:lnTo>
                <a:lnTo>
                  <a:pt x="7589520" y="6035040"/>
                </a:lnTo>
                <a:lnTo>
                  <a:pt x="9509760" y="5029200"/>
                </a:lnTo>
                <a:lnTo>
                  <a:pt x="12191695" y="6217920"/>
                </a:lnTo>
                <a:lnTo>
                  <a:pt x="12191695" y="6858000"/>
                </a:lnTo>
                <a:lnTo>
                  <a:pt x="0" y="6858000"/>
                </a:lnTo>
              </a:path>
            </a:pathLst>
          </a:custGeom>
          <a:solidFill>
            <a:srgbClr val="1C3A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6583680"/>
                </a:moveTo>
                <a:lnTo>
                  <a:pt x="1645920" y="5943600"/>
                </a:lnTo>
                <a:lnTo>
                  <a:pt x="3291840" y="6400800"/>
                </a:lnTo>
                <a:lnTo>
                  <a:pt x="5303520" y="5669280"/>
                </a:lnTo>
                <a:lnTo>
                  <a:pt x="7223760" y="6492240"/>
                </a:lnTo>
                <a:lnTo>
                  <a:pt x="9144000" y="5852160"/>
                </a:lnTo>
                <a:lnTo>
                  <a:pt x="12191695" y="6583680"/>
                </a:lnTo>
                <a:lnTo>
                  <a:pt x="12191695" y="6858000"/>
                </a:lnTo>
                <a:lnTo>
                  <a:pt x="0" y="6858000"/>
                </a:lnTo>
              </a:path>
            </a:pathLst>
          </a:custGeom>
          <a:solidFill>
            <a:srgbClr val="24476B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5989320"/>
            <a:ext cx="146304" cy="146304"/>
          </a:xfrm>
          <a:prstGeom prst="ellipse">
            <a:avLst/>
          </a:prstGeom>
          <a:solidFill>
            <a:srgbClr val="E8872E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00584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55448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182880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64008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173736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18872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73736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82296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6-SESSION INTENSIVE PROJECT-BASED COURSE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 Earth Sciences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06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Scientific Questions to Machine Learning Models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1C3A57"/>
          </a:solidFill>
          <a:ln w="12700">
            <a:solidFill>
              <a:srgbClr val="3F88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918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PhD Students in Earth Sciences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Baqerzadeh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Synoptic Meteorologist &amp; Data/ML Instructor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Session-by-Session 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3F88C5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ma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sessions, one continuous workflow — from a scientific question to a finished project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35152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 rot="-360000">
            <a:off x="749808" y="2258568"/>
            <a:ext cx="457200" cy="457200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283464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" y="3191256"/>
            <a:ext cx="30763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framing, Python/Git setup, tools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38218" y="2057400"/>
            <a:ext cx="35152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 rot="-360000">
            <a:off x="4539386" y="2258568"/>
            <a:ext cx="457200" cy="457200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39386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57674" y="283464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Exploration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57674" y="3191256"/>
            <a:ext cx="30763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exploratory analysis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27797" y="2057400"/>
            <a:ext cx="35152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 rot="-360000">
            <a:off x="8328965" y="2258568"/>
            <a:ext cx="457200" cy="457200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28965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347253" y="283464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Baseline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347253" y="3191256"/>
            <a:ext cx="30763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a first baseline model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931920"/>
            <a:ext cx="35152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 rot="-360000">
            <a:off x="749808" y="4133088"/>
            <a:ext cx="457200" cy="457200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980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" y="470916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Models &amp; Validation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" y="5065776"/>
            <a:ext cx="30763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and leakage-free validation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38218" y="3931920"/>
            <a:ext cx="35152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 rot="-360000">
            <a:off x="4539386" y="4133088"/>
            <a:ext cx="457200" cy="457200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39386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57674" y="470916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557674" y="5065776"/>
            <a:ext cx="30763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model results and understanding errors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27797" y="3931920"/>
            <a:ext cx="35152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 rot="-360000">
            <a:off x="8328965" y="4133088"/>
            <a:ext cx="457200" cy="457200"/>
          </a:xfrm>
          <a:prstGeom prst="ellipse">
            <a:avLst/>
          </a:prstGeom>
          <a:solidFill>
            <a:srgbClr val="E8872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328965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347253" y="470916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Next Steps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347253" y="5065776"/>
            <a:ext cx="30763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scientific report and AI-assisted workflow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48640" y="580644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CFE3F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68680" y="5879592"/>
            <a:ext cx="10454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structure — adapt the pacing to your own six sessions.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Course Really About?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3F88C5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compas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544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course to “learn Machine Learning” in 7 sessions.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we will learn how to: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0" y="1600200"/>
            <a:ext cx="384048" cy="384048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59552" y="1554480"/>
            <a:ext cx="5961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real Earth-science problem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258568"/>
            <a:ext cx="384048" cy="384048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59552" y="2212848"/>
            <a:ext cx="5961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into an ML problem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0" y="2916936"/>
            <a:ext cx="384048" cy="384048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59552" y="2871216"/>
            <a:ext cx="5961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real scientific data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0" y="3575304"/>
            <a:ext cx="384048" cy="384048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029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559552" y="3529584"/>
            <a:ext cx="5961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ML models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0" y="4233672"/>
            <a:ext cx="384048" cy="384048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02920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59552" y="4187952"/>
            <a:ext cx="5961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results scientifically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0" y="4892040"/>
            <a:ext cx="384048" cy="384048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02920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59552" y="4846320"/>
            <a:ext cx="5961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path for further learning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6235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CFE3F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68680" y="5696712"/>
            <a:ext cx="1045433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finish ML.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know where to go next.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You Learn?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3F88C5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you should be able to: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002536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Earth-science problem as an ML problem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624328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569464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real scientific datasets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191256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136392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explore, and visualize data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758184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703320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meaningful features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324448" y="20574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24448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81648" y="2002536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baseline and ML models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324448" y="2624328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24448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81648" y="2569464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models without data leakage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324448" y="3191256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24448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781648" y="3136392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results and errors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324448" y="3758184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324448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781648" y="3703320"/>
            <a:ext cx="486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AI/LLMs effectively for coding and research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CFE3F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68680" y="4965192"/>
            <a:ext cx="10454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importantly: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workflow you can continue after this course.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Path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Scientific Question to a Research Result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16712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5740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Problem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094378" y="20574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32122" y="205740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1850" y="216712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185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35042" y="205740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77861" y="20574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15605" y="205740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5333" y="216712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5333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18525" y="205740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Understanding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15605" y="2770632"/>
            <a:ext cx="35274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15605" y="315468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5333" y="326440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5333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18525" y="315468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 rot="10800000">
            <a:off x="7877861" y="315468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32122" y="315468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41850" y="326440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4185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35042" y="315468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 rot="10800000">
            <a:off x="4094378" y="315468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315468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326440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315468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867912"/>
            <a:ext cx="35274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" y="436168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425196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Evaluation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094378" y="425196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2122" y="425196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41850" y="436168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41850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835042" y="425196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7877861" y="425196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5605" y="425196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5333" y="4361688"/>
            <a:ext cx="310896" cy="310896"/>
          </a:xfrm>
          <a:prstGeom prst="ellipse">
            <a:avLst/>
          </a:prstGeom>
          <a:solidFill>
            <a:srgbClr val="E8872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225333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618525" y="425196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Conclusion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580644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CFE3F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68680" y="5879592"/>
            <a:ext cx="10454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 workflow, not just a model.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Skills You Need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 =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1525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25400" dir="5400000">
              <a:srgbClr val="1632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4789" y="2468880"/>
            <a:ext cx="822960" cy="822960"/>
          </a:xfrm>
          <a:prstGeom prst="ellipse">
            <a:avLst/>
          </a:prstGeom>
          <a:solidFill>
            <a:srgbClr val="CFE3F4"/>
          </a:solidFill>
          <a:ln/>
        </p:spPr>
      </p:sp>
      <p:pic>
        <p:nvPicPr>
          <p:cNvPr id="10" name="Image 0" descr="/home/claude/icon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237" y="262432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474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Knowledge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9319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physical problem, data, and scientific context.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8218" y="2148840"/>
            <a:ext cx="351525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25400" dir="5400000">
              <a:srgbClr val="16324F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84368" y="2468880"/>
            <a:ext cx="822960" cy="822960"/>
          </a:xfrm>
          <a:prstGeom prst="ellipse">
            <a:avLst/>
          </a:prstGeom>
          <a:solidFill>
            <a:srgbClr val="CFE3F4"/>
          </a:solidFill>
          <a:ln/>
        </p:spPr>
      </p:sp>
      <p:pic>
        <p:nvPicPr>
          <p:cNvPr id="15" name="Image 1" descr="/home/claude/icons/cpu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816" y="2624328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66818" y="3474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39319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validate, compare, and interpret models.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27797" y="2148840"/>
            <a:ext cx="351525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25400" dir="5400000">
              <a:srgbClr val="16324F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73946" y="2468880"/>
            <a:ext cx="822960" cy="822960"/>
          </a:xfrm>
          <a:prstGeom prst="ellipse">
            <a:avLst/>
          </a:prstGeom>
          <a:solidFill>
            <a:srgbClr val="CFE3F4"/>
          </a:solidFill>
          <a:ln/>
        </p:spPr>
      </p:sp>
      <p:pic>
        <p:nvPicPr>
          <p:cNvPr id="20" name="Image 2" descr="/home/claude/icon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394" y="262432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56397" y="3474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39319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reproducible code, manage projects, use Git, and document your work.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CFE3F4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8680" y="5239512"/>
            <a:ext cx="1045433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all three.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ML model cannot rescue a badly formulated scientific problem.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We Will Use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working environment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9" name="Image 0" descr="/home/claude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2002536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587752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analysis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9930" y="1874520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13" name="Image 1" descr="/home/claude/icons/jupy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810" y="20391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05730" y="2002536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21098" y="2587752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&amp; visualization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1221" y="1874520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17" name="Image 2" descr="/home/claude/icons/gri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101" y="20391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7021" y="2002536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292389" y="2587752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072384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21" name="Image 3" descr="/home/claude/icons/lay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3697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200400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Xarray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3785616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&amp; NetCDF data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19930" y="3072384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25" name="Image 4" descr="/home/claude/icons/skle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810" y="3236976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05730" y="3200400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521098" y="3785616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91221" y="3072384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29" name="Image 5" descr="/home/claude/icons/barchar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101" y="3236976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777021" y="3200400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8292389" y="3785616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548640" y="4270248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33" name="Image 6" descr="/home/claude/icons/gita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43484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234440" y="4398264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" y="4983480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319930" y="4270248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37" name="Image 7" descr="/home/claude/icons/gith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810" y="4434840"/>
            <a:ext cx="365760" cy="36576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005730" y="4398264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4521098" y="4983480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reproducibility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8091221" y="4270248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0000"/>
              </a:srgbClr>
            </a:outerShdw>
          </a:effectLst>
        </p:spPr>
      </p:sp>
      <p:pic>
        <p:nvPicPr>
          <p:cNvPr id="41" name="Image 8" descr="/home/claude/icons/robot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4101" y="4434840"/>
            <a:ext cx="365760" cy="36576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777021" y="4398264"/>
            <a:ext cx="2683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LLMs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8292389" y="4983480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assistant, debugging &amp; learning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548640" y="55778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CFE3F4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868680" y="5650992"/>
            <a:ext cx="104543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part of the workflow — not the goal.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Not Optional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E8872E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gitbran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Git?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09397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 to your code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715768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66090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without losing working versions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282696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22783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others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849624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79476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your analysis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416552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436168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professional research workflow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00200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Git Workflow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492240" y="2103120"/>
            <a:ext cx="5150815" cy="45720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92240" y="2103120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884768" y="25420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92240" y="2688336"/>
            <a:ext cx="5150815" cy="45720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92240" y="2688336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884768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92240" y="3273552"/>
            <a:ext cx="5150815" cy="45720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92240" y="3273552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884768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492240" y="3858768"/>
            <a:ext cx="5150815" cy="45720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92240" y="3858768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884768" y="4297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492240" y="4443984"/>
            <a:ext cx="5150815" cy="457200"/>
          </a:xfrm>
          <a:prstGeom prst="roundRect">
            <a:avLst>
              <a:gd name="adj" fmla="val 50000"/>
            </a:avLst>
          </a:prstGeom>
          <a:solidFill>
            <a:srgbClr val="E8872E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492240" y="4443984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CFE3F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68680" y="5513832"/>
            <a:ext cx="1045433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become a Git expert.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become comfortable using Git.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Earth-Science Problem  —  </a:t>
            </a:r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work through a complete ML workflow: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16712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5740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094378" y="20574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32122" y="205740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1850" y="216712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185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35042" y="205740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Question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77861" y="20574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15605" y="205740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5333" y="216712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5333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18525" y="205740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15605" y="2770632"/>
            <a:ext cx="35274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15605" y="315468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5333" y="326440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5333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18525" y="315468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 rot="10800000">
            <a:off x="7877861" y="315468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32122" y="315468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41850" y="326440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4185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35042" y="315468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 rot="10800000">
            <a:off x="4094378" y="315468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315468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326440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315468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867912"/>
            <a:ext cx="35274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" y="436168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425196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094378" y="425196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2122" y="425196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41850" y="4361688"/>
            <a:ext cx="310896" cy="3108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41850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835042" y="425196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7877861" y="425196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5605" y="4251960"/>
            <a:ext cx="352745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63500" dist="25400" dir="5400000">
              <a:srgbClr val="16324F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5333" y="4361688"/>
            <a:ext cx="310896" cy="310896"/>
          </a:xfrm>
          <a:prstGeom prst="ellipse">
            <a:avLst/>
          </a:prstGeom>
          <a:solidFill>
            <a:srgbClr val="E8872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225333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618525" y="4251960"/>
            <a:ext cx="29330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580644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CFE3F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68680" y="5879592"/>
            <a:ext cx="10454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workflow can be applied to your own research problems.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Notebooks You Will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3F88C5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filetex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→ one step of the research workflow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01168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01168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01168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Problem Definition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78728" y="201168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8728" y="201168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78728" y="201168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101688" y="201168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283464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283464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283464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283464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78728" y="283464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8728" y="283464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78728" y="283464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101688" y="283464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First Models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365760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365760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365760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1371600" y="365760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Validation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78728" y="365760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78728" y="365760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78728" y="365760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7101688" y="365760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Error Analysis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4480560"/>
            <a:ext cx="53643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4480560"/>
            <a:ext cx="658368" cy="62179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48640" y="448056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448056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&amp; Scientific Report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48640" y="580644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CFE3F4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68680" y="5879592"/>
            <a:ext cx="10454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you will have a small but complete ML project — not just a collection of code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Books to Keep Learning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25400" dir="5400000">
              <a:srgbClr val="16324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-300000">
            <a:off x="868680" y="18745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2F6FA6"/>
          </a:solidFill>
          <a:ln/>
        </p:spPr>
      </p:sp>
      <p:pic>
        <p:nvPicPr>
          <p:cNvPr id="9" name="Image 0" descr="/home/claude/icons/bookope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2743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Introduction to Statistical Learning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4747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James, Witten, Hastie, Tibshirani, Taylor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93192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877056"/>
            <a:ext cx="426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foundations of ML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68680" y="4407408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352544"/>
            <a:ext cx="426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explanations and practical examples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68680" y="4882896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28032"/>
            <a:ext cx="426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reference for understanding the concepts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25400" dir="5400000">
              <a:srgbClr val="16324F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 rot="-300000">
            <a:off x="6598768" y="18745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C2571E"/>
          </a:solidFill>
          <a:ln/>
        </p:spPr>
      </p:sp>
      <p:pic>
        <p:nvPicPr>
          <p:cNvPr id="23" name="Image 1" descr="/home/claude/icons/bookope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2011680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598768" y="2743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Machine Learning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598768" y="34747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Aurélien Géron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98768" y="393192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598768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7055968" y="3877056"/>
            <a:ext cx="426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with Python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598768" y="4407408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98768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7055968" y="4352544"/>
            <a:ext cx="426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&amp; deep learning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598768" y="4882896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598768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7055968" y="4828032"/>
            <a:ext cx="426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reference for implementation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CFE3F4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68680" y="5833872"/>
            <a:ext cx="1045433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gives you a starting point.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books give you somewhere to go next.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Your Python Environment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3F88C5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termina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environment and keep your project reproducible.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22225">
            <a:solidFill>
              <a:srgbClr val="E887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5608" y="1828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87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75608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2402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1 — Miniconda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2788920"/>
            <a:ext cx="4815688" cy="1188720"/>
          </a:xfrm>
          <a:prstGeom prst="roundRect">
            <a:avLst>
              <a:gd name="adj" fmla="val 4615"/>
            </a:avLst>
          </a:prstGeom>
          <a:solidFill>
            <a:srgbClr val="16324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2926080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BE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geo-ml python=3.12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BE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geo-ml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1605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install the tools we need.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617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course, Miniconda is the recommended option.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78728" y="201168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CFE3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53048" y="22402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2 — Python venv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53048" y="2788920"/>
            <a:ext cx="4815688" cy="1691640"/>
          </a:xfrm>
          <a:prstGeom prst="roundRect">
            <a:avLst>
              <a:gd name="adj" fmla="val 3243"/>
            </a:avLst>
          </a:prstGeom>
          <a:solidFill>
            <a:srgbClr val="1632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35928" y="2926080"/>
            <a:ext cx="4449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BE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BE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9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E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   # Linux / macOS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E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      # Windows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53048" y="466344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install the tools we need.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438912" y="34747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FE3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56671" y="365760"/>
            <a:ext cx="786384" cy="786384"/>
          </a:xfrm>
          <a:prstGeom prst="ellipse">
            <a:avLst/>
          </a:prstGeom>
          <a:solidFill>
            <a:srgbClr val="3F88C5"/>
          </a:solidFill>
          <a:ln/>
          <a:effectLst>
            <a:outerShdw sx="100000" sy="100000" kx="0" ky="0" algn="bl" rotWithShape="0" blurRad="76200" dist="25400" dir="5400000">
              <a:srgbClr val="16324F">
                <a:alpha val="18000"/>
              </a:srgbClr>
            </a:outerShdw>
          </a:effectLst>
        </p:spPr>
      </p:sp>
      <p:pic>
        <p:nvPicPr>
          <p:cNvPr id="6" name="Image 0" descr="/home/claude/icons/robo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951037" y="460126"/>
            <a:ext cx="597652" cy="597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part of our research workflow.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course, we will introduce and work with tools such as: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5511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0083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4655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FreeCAD / FreeBaf (if this is the tool you mean)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39227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Freestyle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43799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489204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48371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useful AI-powered development tools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201168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them for: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492240" y="25146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9224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459736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improving code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492240" y="29718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9224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2916936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492240" y="34290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9224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3374136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ideas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492240" y="38862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92240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3831336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repetitive tasks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492240" y="4343400"/>
            <a:ext cx="329184" cy="329184"/>
          </a:xfrm>
          <a:prstGeom prst="ellipse">
            <a:avLst/>
          </a:prstGeom>
          <a:solidFill>
            <a:srgbClr val="CFE3F4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49224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949440" y="4288536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research projects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548640" y="56235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CFE3F4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68680" y="5696712"/>
            <a:ext cx="1045433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let AI do the work for you.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learn how to work effectively with AI.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6309360"/>
                </a:moveTo>
                <a:lnTo>
                  <a:pt x="2011680" y="5120640"/>
                </a:lnTo>
                <a:lnTo>
                  <a:pt x="3657600" y="5943600"/>
                </a:lnTo>
                <a:lnTo>
                  <a:pt x="5577840" y="4754880"/>
                </a:lnTo>
                <a:lnTo>
                  <a:pt x="7589520" y="6035040"/>
                </a:lnTo>
                <a:lnTo>
                  <a:pt x="9509760" y="5029200"/>
                </a:lnTo>
                <a:lnTo>
                  <a:pt x="12191695" y="6217920"/>
                </a:lnTo>
                <a:lnTo>
                  <a:pt x="12191695" y="6858000"/>
                </a:lnTo>
                <a:lnTo>
                  <a:pt x="0" y="6858000"/>
                </a:lnTo>
              </a:path>
            </a:pathLst>
          </a:custGeom>
          <a:solidFill>
            <a:srgbClr val="1C3A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6583680"/>
                </a:moveTo>
                <a:lnTo>
                  <a:pt x="1645920" y="5943600"/>
                </a:lnTo>
                <a:lnTo>
                  <a:pt x="3291840" y="6400800"/>
                </a:lnTo>
                <a:lnTo>
                  <a:pt x="5303520" y="5669280"/>
                </a:lnTo>
                <a:lnTo>
                  <a:pt x="7223760" y="6492240"/>
                </a:lnTo>
                <a:lnTo>
                  <a:pt x="9144000" y="5852160"/>
                </a:lnTo>
                <a:lnTo>
                  <a:pt x="12191695" y="6583680"/>
                </a:lnTo>
                <a:lnTo>
                  <a:pt x="12191695" y="6858000"/>
                </a:lnTo>
                <a:lnTo>
                  <a:pt x="0" y="6858000"/>
                </a:lnTo>
              </a:path>
            </a:pathLst>
          </a:custGeom>
          <a:solidFill>
            <a:srgbClr val="24476B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5989320"/>
            <a:ext cx="146304" cy="146304"/>
          </a:xfrm>
          <a:prstGeom prst="ellipse">
            <a:avLst/>
          </a:prstGeom>
          <a:solidFill>
            <a:srgbClr val="E8872E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00584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55448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182880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64008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173736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18872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73736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822960"/>
            <a:ext cx="82296" cy="82296"/>
          </a:xfrm>
          <a:prstGeom prst="ellipse">
            <a:avLst/>
          </a:prstGeom>
          <a:solidFill>
            <a:srgbClr val="3F88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IN SESSION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271455" y="1554480"/>
            <a:ext cx="1005840" cy="1005840"/>
          </a:xfrm>
          <a:prstGeom prst="ellipse">
            <a:avLst/>
          </a:prstGeom>
          <a:solidFill>
            <a:srgbClr val="1C3A57"/>
          </a:solidFill>
          <a:ln w="19050">
            <a:solidFill>
              <a:srgbClr val="E8872E"/>
            </a:solidFill>
            <a:prstDash val="solid"/>
          </a:ln>
        </p:spPr>
      </p:sp>
      <p:pic>
        <p:nvPicPr>
          <p:cNvPr id="17" name="Image 0" descr="/home/claude/icons/sen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0">
            <a:off x="10509199" y="1792224"/>
            <a:ext cx="530352" cy="53035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5806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Baqerzadeh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Synoptic Meteorologist &amp; Data/ML Instructor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Earth Sciences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2026-09-25T06:57:51Z</dcterms:created>
  <dcterms:modified xsi:type="dcterms:W3CDTF">2026-09-25T06:57:51Z</dcterms:modified>
</cp:coreProperties>
</file>